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ink/ink2.xml" ContentType="application/inkml+xml"/>
  <Override PartName="/ppt/notesSlides/notesSlide4.xml" ContentType="application/vnd.openxmlformats-officedocument.presentationml.notesSlide+xml"/>
  <Override PartName="/ppt/ink/ink3.xml" ContentType="application/inkml+xml"/>
  <Override PartName="/ppt/notesSlides/notesSlide5.xml" ContentType="application/vnd.openxmlformats-officedocument.presentationml.notesSlide+xml"/>
  <Override PartName="/ppt/ink/ink4.xml" ContentType="application/inkml+xml"/>
  <Override PartName="/ppt/notesSlides/notesSlide6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notesSlides/notesSlide7.xml" ContentType="application/vnd.openxmlformats-officedocument.presentationml.notesSlide+xml"/>
  <Override PartName="/ppt/ink/ink9.xml" ContentType="application/inkml+xml"/>
  <Override PartName="/ppt/notesSlides/notesSlide8.xml" ContentType="application/vnd.openxmlformats-officedocument.presentationml.notesSlide+xml"/>
  <Override PartName="/ppt/ink/ink10.xml" ContentType="application/inkml+xml"/>
  <Override PartName="/ppt/notesSlides/notesSlide9.xml" ContentType="application/vnd.openxmlformats-officedocument.presentationml.notesSlide+xml"/>
  <Override PartName="/ppt/ink/ink11.xml" ContentType="application/inkml+xml"/>
  <Override PartName="/ppt/notesSlides/notesSlide10.xml" ContentType="application/vnd.openxmlformats-officedocument.presentationml.notesSlide+xml"/>
  <Override PartName="/ppt/ink/ink12.xml" ContentType="application/inkml+xml"/>
  <Override PartName="/ppt/notesSlides/notesSlide11.xml" ContentType="application/vnd.openxmlformats-officedocument.presentationml.notesSlide+xml"/>
  <Override PartName="/ppt/ink/ink13.xml" ContentType="application/inkml+xml"/>
  <Override PartName="/ppt/notesSlides/notesSlide12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notesSlides/notesSlide13.xml" ContentType="application/vnd.openxmlformats-officedocument.presentationml.notesSlide+xml"/>
  <Override PartName="/ppt/ink/ink16.xml" ContentType="application/inkml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ink/ink17.xml" ContentType="application/inkml+xml"/>
  <Override PartName="/ppt/notesSlides/notesSlide15.xml" ContentType="application/vnd.openxmlformats-officedocument.presentationml.notesSlide+xml"/>
  <Override PartName="/ppt/ink/ink18.xml" ContentType="application/inkml+xml"/>
  <Override PartName="/ppt/notesSlides/notesSlide16.xml" ContentType="application/vnd.openxmlformats-officedocument.presentationml.notesSlide+xml"/>
  <Override PartName="/ppt/ink/ink19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  <p:sldId id="274" r:id="rId19"/>
    <p:sldId id="275" r:id="rId20"/>
    <p:sldId id="276" r:id="rId21"/>
    <p:sldId id="277" r:id="rId22"/>
    <p:sldId id="278" r:id="rId23"/>
    <p:sldId id="279" r:id="rId24"/>
    <p:sldId id="273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2A21"/>
                </a:solidFill>
                <a:latin typeface="Arial"/>
              </a:defRPr>
            </a:pPr>
            <a:r>
              <a:rPr lang="en-US" sz="1600" b="0" i="0" u="none" strike="noStrike">
                <a:solidFill>
                  <a:srgbClr val="0E2A21"/>
                </a:solidFill>
                <a:latin typeface="Arial"/>
              </a:rPr>
              <a:t>Grants by sanctuary (Rs lakhs)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Grant</c:v>
                </c:pt>
              </c:strCache>
            </c:strRef>
          </c:tx>
          <c:spPr>
            <a:solidFill>
              <a:srgbClr val="3E8E5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2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Corbett</c:v>
                </c:pt>
                <c:pt idx="1">
                  <c:v>Kaziranga</c:v>
                </c:pt>
                <c:pt idx="2">
                  <c:v>Sundarbans</c:v>
                </c:pt>
                <c:pt idx="3">
                  <c:v>Ranthambore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</c:v>
                </c:pt>
                <c:pt idx="1">
                  <c:v>315</c:v>
                </c:pt>
                <c:pt idx="2">
                  <c:v>190</c:v>
                </c:pt>
                <c:pt idx="3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40-4685-8F4B-6FFB9E69DA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6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F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2A21"/>
                </a:solidFill>
                <a:latin typeface="Arial"/>
              </a:defRPr>
            </a:pPr>
            <a:r>
              <a:rPr lang="en-IN" sz="1600" b="0" i="0" u="none" strike="noStrike">
                <a:solidFill>
                  <a:srgbClr val="0E2A21"/>
                </a:solidFill>
                <a:latin typeface="Arial"/>
              </a:rPr>
              <a:t>Biodiversity index (0-10)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Index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2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Corbett</c:v>
                </c:pt>
                <c:pt idx="1">
                  <c:v>Kaziranga</c:v>
                </c:pt>
                <c:pt idx="2">
                  <c:v>Sundarbans</c:v>
                </c:pt>
                <c:pt idx="3">
                  <c:v>Ranthambore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8.9</c:v>
                </c:pt>
                <c:pt idx="1">
                  <c:v>9.1999999999999993</c:v>
                </c:pt>
                <c:pt idx="2">
                  <c:v>8.4</c:v>
                </c:pt>
                <c:pt idx="3">
                  <c:v>7.8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4-4539-9663-28F97B3732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DDE6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F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2:52.761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0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03.162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1 1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08.316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1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12.836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1 0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18.197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0 1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5:51.722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0 1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6:46.153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0 1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6:48.060"/>
    </inkml:context>
    <inkml:brush xml:id="br0">
      <inkml:brushProperty name="width" value="0.35" units="cm"/>
      <inkml:brushProperty name="height" value="0.35" units="cm"/>
      <inkml:brushProperty name="color" value="#33CCFF"/>
    </inkml:brush>
  </inkml:definitions>
  <inkml:trace contextRef="#ctx0" brushRef="#br0">21 1 24575,'-4'0'0,"-2"4"0,0 7 0,2 4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33.949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0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38.901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0 0 24575,'0'0'-8191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3:44.195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0 0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4:18.133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0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4:27.337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1 24575,'0'4'0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4:39.045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1 0 24575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5:42.39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24575,'0'0'-8191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4:45.43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24575,'0'0'-8191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5:03.99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5:14.26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3:07:33.94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6009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team and project. WildGuard: wildlife conservation + IoT telemetry on DuckDB.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requirements drawn from the problem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a single database that does both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reasons: hybrid OLAP+relational, columnar vectorized, analytical SQL, single-file ACID.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Typical tendencies, not absolutes. DuckDB is the best single-engine fit for this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Simulator writes, DuckDB stores, Streamlit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 tables describe entities; fact tables hold events and time-series.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Traceability from problem statement to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Docker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Frontend is linked live to the DuckDB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columnar pass replaces a MAX(ts) self-join.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climax: trigger fire in ZONE-KAZ, banner appears, 3 animals listed with elevated heart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and update stay consistent; health status changes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grants Rs 1,075 lakhs across four zones. Biodiversity index from latest surveys.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Q&amp;A cheat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10 minutes in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questions and start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8.xml"/><Relationship Id="rId3" Type="http://schemas.openxmlformats.org/officeDocument/2006/relationships/customXml" Target="../ink/ink5.xml"/><Relationship Id="rId7" Type="http://schemas.openxmlformats.org/officeDocument/2006/relationships/customXml" Target="../ink/ink7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customXml" Target="../ink/ink6.xml"/><Relationship Id="rId4" Type="http://schemas.openxmlformats.org/officeDocument/2006/relationships/image" Target="../media/image12.png"/><Relationship Id="rId9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customXml" Target="../ink/ink15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customXml" Target="../ink/ink17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8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rresistible-Ishan/DBMS-DuckBD-wildlife-monitoring-project-BACSE202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371600"/>
            <a:ext cx="5486400" cy="5486400"/>
          </a:xfrm>
          <a:prstGeom prst="ellipse">
            <a:avLst/>
          </a:prstGeom>
          <a:solidFill>
            <a:srgbClr val="17382D"/>
          </a:solidFill>
          <a:ln w="12700">
            <a:solidFill>
              <a:srgbClr val="17382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108960"/>
            <a:ext cx="3840480" cy="3840480"/>
          </a:xfrm>
          <a:prstGeom prst="ellipse">
            <a:avLst/>
          </a:prstGeom>
          <a:solidFill>
            <a:srgbClr val="3E8E5A">
              <a:alpha val="45000"/>
            </a:srgbClr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ASSIGNMENT 3  ·  ADVANCED DATABASES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19" y="1371600"/>
            <a:ext cx="1026927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WildGuard</a:t>
            </a: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7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</a:t>
            </a: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7200" b="1" dirty="0">
                <a:solidFill>
                  <a:srgbClr val="FF0000"/>
                </a:solidFill>
                <a:highlight>
                  <a:srgbClr val="80000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TEAM 12 </a:t>
            </a:r>
            <a:r>
              <a:rPr lang="en-US" sz="7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</a:t>
            </a:r>
            <a:endParaRPr lang="en-US" sz="7200" dirty="0">
              <a:solidFill>
                <a:schemeClr val="bg1"/>
              </a:solidFill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731520" y="2651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CFE8D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Centralized Wildlife Conservation, IoT Telemetry &amp; Research Management System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31520" y="4023360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0233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Database: </a:t>
            </a: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Frontend: Streamlit + Plotly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6164" y="5029200"/>
            <a:ext cx="916825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Ishan Mani Singh 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Daraninaganathan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Varshith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25BDS1119             25BDS1088</a:t>
            </a:r>
            <a:r>
              <a:rPr lang="en-US" sz="2800" dirty="0"/>
              <a:t>               </a:t>
            </a:r>
            <a:r>
              <a:rPr lang="en-US" sz="28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25BDS1109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: F1+TF1  -  FACULTY : </a:t>
            </a:r>
            <a:r>
              <a:rPr lang="en-US" sz="3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. </a:t>
            </a:r>
            <a:r>
              <a:rPr lang="en-US" sz="3200" dirty="0" err="1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Benila</a:t>
            </a:r>
            <a:r>
              <a:rPr lang="en-US" sz="3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S.</a:t>
            </a:r>
            <a:endParaRPr lang="en-US" sz="3200" dirty="0">
              <a:solidFill>
                <a:schemeClr val="accent2"/>
              </a:solidFill>
            </a:endParaRPr>
          </a:p>
        </p:txBody>
      </p:sp>
      <p:pic>
        <p:nvPicPr>
          <p:cNvPr id="11" name="Picture 10" descr="DuckDB - Wikipedia">
            <a:extLst>
              <a:ext uri="{FF2B5EF4-FFF2-40B4-BE49-F238E27FC236}">
                <a16:creationId xmlns:a16="http://schemas.microsoft.com/office/drawing/2014/main" id="{46130E14-43F9-FE63-C680-0D0E6C687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543" y="4114800"/>
            <a:ext cx="3096650" cy="2366158"/>
          </a:xfrm>
          <a:prstGeom prst="rect">
            <a:avLst/>
          </a:prstGeom>
          <a:effectLst>
            <a:glow rad="190500">
              <a:schemeClr val="bg1">
                <a:alpha val="90000"/>
              </a:schemeClr>
            </a:glo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protect endangered wildlife with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Protected zones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06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Forests, sanctuaries and national parks across India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173736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Tagged animals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2606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Endangered species tracked with GPS collars or RFID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21040" y="173736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IoT sensors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2606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humidity, rainfall, water, AQI, fire alerts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645920" y="4187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&amp; rescue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4983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Breeding, disease outbreaks, rescue and rehabilitation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72000" y="411480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4187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Funded projects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0" y="4983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and NGO conservation grants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321040" y="411480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2104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9144000" y="4187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surveys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8321040" y="4983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Researchers, periodic reports, biodiversity assessments</a:t>
            </a:r>
            <a:endParaRPr lang="en-US" sz="15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12EE2E8-BC1D-CC2D-08AB-D26E0278E6B4}"/>
                  </a:ext>
                </a:extLst>
              </p14:cNvPr>
              <p14:cNvContentPartPr/>
              <p14:nvPr/>
            </p14:nvContentPartPr>
            <p14:xfrm>
              <a:off x="11672552" y="31691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12EE2E8-BC1D-CC2D-08AB-D26E0278E6B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09552" y="2542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system, two very different data shapes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93776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02552" y="1463040"/>
            <a:ext cx="493776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3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Time-series telemetry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4389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collar pings: position, speed, heart rate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readings every few minutes per zone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Append-heavy, continuously growing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"latest per animal" and rolling aggregates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976872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D84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records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976872" y="2286000"/>
            <a:ext cx="4389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Zones, animals, projects, surveys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joins across funding and research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must stay consistent (ACID)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keys, integrity and transactions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577840" y="3108960"/>
            <a:ext cx="1033272" cy="1033272"/>
          </a:xfrm>
          <a:prstGeom prst="ellipse">
            <a:avLst/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77840" y="3108960"/>
            <a:ext cx="10332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01F789A-963B-A411-AF6D-EDCC948A7EA6}"/>
                  </a:ext>
                </a:extLst>
              </p14:cNvPr>
              <p14:cNvContentPartPr/>
              <p14:nvPr/>
            </p14:nvContentPartPr>
            <p14:xfrm>
              <a:off x="11718992" y="3543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01F789A-963B-A411-AF6D-EDCC948A7EA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56352" y="29171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371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DuckDB?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691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OLAP + relational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telemetry and relational joins in one engine; no second database for funding and projects.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17920" y="141732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922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1691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Columnar, vectorized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2514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column blocks processed in CPU batches; aggregates over millions of readings stay fast.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88620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2960" y="4114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4160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Analytical SQL built in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9834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ARG_MAX, GROUP BY ALL, window functions and QUANTILE_CONT remove self-joins and boilerplate.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217920" y="388620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92240" y="4114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160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Zero-ops, ACID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49834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single file (wildlife_conservation.duckdb). No Docker, no cluster, full transactions.</a:t>
            </a:r>
            <a:endParaRPr lang="en-US" sz="15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6A35323-2883-143E-8D33-8EF5BA9BDDBD}"/>
                  </a:ext>
                </a:extLst>
              </p14:cNvPr>
              <p14:cNvContentPartPr/>
              <p14:nvPr/>
            </p14:nvContentPartPr>
            <p14:xfrm>
              <a:off x="11597672" y="37307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6A35323-2883-143E-8D33-8EF5BA9BDDB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503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among the advanced databases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3730752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DuckDB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InfluxDB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Cassandra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aggregation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Multi-table relational joins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transactions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Latest-per-entity analytics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effort for a demo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3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= native fit   ·   Moderate = workable   ·   Limited = needs workarounds or another system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57150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DuckDB serves both halves of WildGuard from a single file.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BDFEBB9-EEB7-5763-31CF-03DD5BAE00DC}"/>
                  </a:ext>
                </a:extLst>
              </p14:cNvPr>
              <p14:cNvContentPartPr/>
              <p14:nvPr/>
            </p14:nvContentPartPr>
            <p14:xfrm>
              <a:off x="11625752" y="382430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BDFEBB9-EEB7-5763-31CF-03DD5BAE00D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63112" y="31943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and data flow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383280" cy="42062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383280" cy="1005840"/>
          </a:xfrm>
          <a:prstGeom prst="roundRect">
            <a:avLst>
              <a:gd name="adj" fmla="val 10909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telemetry simulator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3464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speed, heart rate, behaviour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IoT: temp, humidity, rain, water, AQI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anomaly injector for the demo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023360" y="3383280"/>
            <a:ext cx="548640" cy="457200"/>
          </a:xfrm>
          <a:prstGeom prst="rightArrow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63440" y="1554480"/>
            <a:ext cx="3383280" cy="42062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554480"/>
            <a:ext cx="3383280" cy="1005840"/>
          </a:xfrm>
          <a:prstGeom prst="roundRect">
            <a:avLst>
              <a:gd name="adj" fmla="val 10909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DuckDB engine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283464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wildlife_conservation.duckdb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relational + 4 event tables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inserts, vectorized OLAP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138160" y="3383280"/>
            <a:ext cx="548640" cy="457200"/>
          </a:xfrm>
          <a:prstGeom prst="rightArrow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778240" y="1554480"/>
            <a:ext cx="3383280" cy="42062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778240" y="1554480"/>
            <a:ext cx="3383280" cy="1005840"/>
          </a:xfrm>
          <a:prstGeom prst="roundRect">
            <a:avLst>
              <a:gd name="adj" fmla="val 10909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7824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 frontend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9052560" y="283464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tabs + sidebar control panel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charts, live map, CRUD form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console for evaluators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INSERT                                         ARG_MAX · JOIN · windowing</a:t>
            </a:r>
            <a:endParaRPr lang="en-US" sz="13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961B17E-440A-D01B-3888-34F1588DB33D}"/>
                  </a:ext>
                </a:extLst>
              </p14:cNvPr>
              <p14:cNvContentPartPr/>
              <p14:nvPr/>
            </p14:nvContentPartPr>
            <p14:xfrm>
              <a:off x="11672552" y="34499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961B17E-440A-D01B-3888-34F1588DB3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09552" y="282350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1164A3F-044A-1F5F-041A-EFE0FBB17598}"/>
                  </a:ext>
                </a:extLst>
              </p14:cNvPr>
              <p14:cNvContentPartPr/>
              <p14:nvPr/>
            </p14:nvContentPartPr>
            <p14:xfrm>
              <a:off x="11663192" y="326270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1164A3F-044A-1F5F-041A-EFE0FBB1759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600192" y="263630"/>
                <a:ext cx="126000" cy="12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291B0B27-A065-FF5A-0CB1-958027D513F2}"/>
              </a:ext>
            </a:extLst>
          </p:cNvPr>
          <p:cNvGrpSpPr/>
          <p:nvPr/>
        </p:nvGrpSpPr>
        <p:grpSpPr>
          <a:xfrm>
            <a:off x="11655632" y="316910"/>
            <a:ext cx="26640" cy="37800"/>
            <a:chOff x="11655632" y="316910"/>
            <a:chExt cx="26640" cy="3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775D84F-ABB2-7F86-F595-C39F52A7EAB7}"/>
                    </a:ext>
                  </a:extLst>
                </p14:cNvPr>
                <p14:cNvContentPartPr/>
                <p14:nvPr/>
              </p14:nvContentPartPr>
              <p14:xfrm>
                <a:off x="11681912" y="354350"/>
                <a:ext cx="360" cy="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775D84F-ABB2-7F86-F595-C39F52A7EAB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1618912" y="291710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88425B9-7083-0453-0972-9D3055338D14}"/>
                    </a:ext>
                  </a:extLst>
                </p14:cNvPr>
                <p14:cNvContentPartPr/>
                <p14:nvPr/>
              </p14:nvContentPartPr>
              <p14:xfrm>
                <a:off x="11655632" y="316910"/>
                <a:ext cx="7560" cy="11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88425B9-7083-0453-0972-9D3055338D1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592992" y="254270"/>
                  <a:ext cx="133200" cy="1371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Schema: seven tables, one backbone (zone_id)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7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21818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554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protected_zones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1945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zone_id, zone_name, category, state, area_sq_km, base_lat/lon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7680" y="1554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97680" y="1554480"/>
            <a:ext cx="3566160" cy="502920"/>
          </a:xfrm>
          <a:prstGeom prst="roundRect">
            <a:avLst>
              <a:gd name="adj" fmla="val 21818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80560" y="1554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animals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480560" y="21945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animal_id, species, tag_type, tag_id, zone_id, health_status, conservation_status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46720" y="1554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046720" y="1554480"/>
            <a:ext cx="3566160" cy="502920"/>
          </a:xfrm>
          <a:prstGeom prst="roundRect">
            <a:avLst>
              <a:gd name="adj" fmla="val 21818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0" y="1554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conservation_projects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21945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project_id, funding_agency, grant_amount_lakhs, zone_id, target_species, status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3520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&amp; EVENTS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384048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40480"/>
            <a:ext cx="2651760" cy="502920"/>
          </a:xfrm>
          <a:prstGeom prst="roundRect">
            <a:avLst>
              <a:gd name="adj" fmla="val 21818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840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gps_telemetry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480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ts, animal_id, lat, lon, speed_kmh, heart_rate_bpm, activity_state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3364992" y="384048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364992" y="3840480"/>
            <a:ext cx="2651760" cy="502920"/>
          </a:xfrm>
          <a:prstGeom prst="roundRect">
            <a:avLst>
              <a:gd name="adj" fmla="val 21818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502152" y="3840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env_sensor_logs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3502152" y="4480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ts, station_id, temperature_c, humidity, rainfall, water %, aqi, fire_alert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181344" y="384048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181344" y="3840480"/>
            <a:ext cx="2651760" cy="502920"/>
          </a:xfrm>
          <a:prstGeom prst="roundRect">
            <a:avLst>
              <a:gd name="adj" fmla="val 21818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18504" y="3840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health_rescue_logs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6318504" y="4480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log_id, animal_id, event_category, details, vet, rehab_status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8997696" y="384048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997696" y="3840480"/>
            <a:ext cx="2651760" cy="502920"/>
          </a:xfrm>
          <a:prstGeom prst="roundRect">
            <a:avLst>
              <a:gd name="adj" fmla="val 21818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34856" y="3840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field_surveys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134856" y="4480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survey_id, project_id, lead_researcher, population, biodiversity_index</a:t>
            </a:r>
            <a:endParaRPr lang="en-US" sz="13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05F1753-CEA3-1446-A1F6-C2DA15A5D77B}"/>
                  </a:ext>
                </a:extLst>
              </p14:cNvPr>
              <p14:cNvContentPartPr/>
              <p14:nvPr/>
            </p14:nvContentPartPr>
            <p14:xfrm>
              <a:off x="11625752" y="39179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05F1753-CEA3-1446-A1F6-C2DA15A5D7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63112" y="32879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requirement maps to a table and a feature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608576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Where it shows up in the app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Protected forests, sanctuaries, parks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protected_zones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filter, map, KPI cards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 / RFID tagged endangered species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animals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1 tracking table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Migration, feeding, heart rate, location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gps_telemetry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1 map and trails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Temperature, rainfall, water, AQI, fire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env_sensor_logs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2 charts, alert banner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Health, breeding, outbreaks, rescue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health_rescue_logs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3 CRUD form and log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Funded projects and reports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B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conservation_projects, field_surveys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B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4 charts and SQL console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5EF518B-C0CF-7073-1CA2-B935864EFF28}"/>
                  </a:ext>
                </a:extLst>
              </p14:cNvPr>
              <p14:cNvContentPartPr/>
              <p14:nvPr/>
            </p14:nvContentPartPr>
            <p14:xfrm>
              <a:off x="11672552" y="38243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5EF518B-C0CF-7073-1CA2-B935864EFF2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09552" y="31943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and 3-minute setup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691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folder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731520" y="2651760"/>
            <a:ext cx="2286000" cy="1508760"/>
          </a:xfrm>
          <a:prstGeom prst="roundRect">
            <a:avLst>
              <a:gd name="adj" fmla="val 7273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wildguard_project/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init_db.py + app.py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8328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389120" y="1691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3566160" y="2651760"/>
            <a:ext cx="2286000" cy="1508760"/>
          </a:xfrm>
          <a:prstGeom prst="roundRect">
            <a:avLst>
              <a:gd name="adj" fmla="val 7273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0332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duckdb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streamlit pandas plotly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1792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223760" y="1691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database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400800" y="2651760"/>
            <a:ext cx="2286000" cy="1508760"/>
          </a:xfrm>
          <a:prstGeom prst="roundRect">
            <a:avLst>
              <a:gd name="adj" fmla="val 7273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3796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init_db.py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5256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0" y="1691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app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9235440" y="2651760"/>
            <a:ext cx="2286000" cy="1508760"/>
          </a:xfrm>
          <a:prstGeom prst="roundRect">
            <a:avLst>
              <a:gd name="adj" fmla="val 7273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37260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app.py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localhost:8501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48640" y="4937760"/>
            <a:ext cx="2057400" cy="685800"/>
          </a:xfrm>
          <a:prstGeom prst="roundRect">
            <a:avLst>
              <a:gd name="adj" fmla="val 16000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937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2788920" y="4937760"/>
            <a:ext cx="2057400" cy="685800"/>
          </a:xfrm>
          <a:prstGeom prst="roundRect">
            <a:avLst>
              <a:gd name="adj" fmla="val 16000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88920" y="4937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029200" y="4937760"/>
            <a:ext cx="2057400" cy="685800"/>
          </a:xfrm>
          <a:prstGeom prst="roundRect">
            <a:avLst>
              <a:gd name="adj" fmla="val 16000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0" y="4937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7269480" y="4937760"/>
            <a:ext cx="2057400" cy="685800"/>
          </a:xfrm>
          <a:prstGeom prst="roundRect">
            <a:avLst>
              <a:gd name="adj" fmla="val 16000"/>
            </a:avLst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269480" y="4937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9509760" y="4937760"/>
            <a:ext cx="2057400" cy="685800"/>
          </a:xfrm>
          <a:prstGeom prst="roundRect">
            <a:avLst>
              <a:gd name="adj" fmla="val 16000"/>
            </a:avLst>
          </a:prstGeom>
          <a:solidFill>
            <a:srgbClr val="5E6F66"/>
          </a:solidFill>
          <a:ln w="12700">
            <a:solidFill>
              <a:srgbClr val="5E6F6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509760" y="4937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data: 4 Indian reserves, 9 tagged animals, 225 GPS rows, 100 sensor rows, 4 projects</a:t>
            </a:r>
            <a:endParaRPr lang="en-US" sz="1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2D93C43-26E9-B4B8-CC88-2999EAE3F967}"/>
                  </a:ext>
                </a:extLst>
              </p14:cNvPr>
              <p14:cNvContentPartPr/>
              <p14:nvPr/>
            </p14:nvContentPartPr>
            <p14:xfrm>
              <a:off x="11756432" y="26111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2D93C43-26E9-B4B8-CC88-2999EAE3F96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93432" y="19811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tour: four tabs plus a control panel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2743200" cy="4754880"/>
          </a:xfrm>
          <a:prstGeom prst="roundRect">
            <a:avLst>
              <a:gd name="adj" fmla="val 4000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54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Sidebar control panel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live GPS and sensor tick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Auto-stream every 3 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drill by zone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alert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566160" y="137160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794760" y="1600200"/>
            <a:ext cx="594360" cy="59436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476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1600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GPS tracking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24688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position, vitals and behaviour per animal; movement trail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137160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909560" y="1600200"/>
            <a:ext cx="594360" cy="594360"/>
          </a:xfrm>
          <a:prstGeom prst="ellipse">
            <a:avLst/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0" y="1600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IoT and fire risk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24688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condition matrix, time-series charts, fire banner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566160" y="384048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794760" y="4069080"/>
            <a:ext cx="594360" cy="59436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9476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40690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and rescue CRUD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4937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events; animal status updates everywhere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680960" y="384048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909560" y="4069080"/>
            <a:ext cx="594360" cy="594360"/>
          </a:xfrm>
          <a:prstGeom prst="ellipse">
            <a:avLst/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0" y="40690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and SQL console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4937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Grants, surveys, biodiversity, live custom SQL</a:t>
            </a:r>
            <a:endParaRPr lang="en-US" sz="15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3C9B7EE-B38B-3668-59BA-FFDDA8B863C6}"/>
                  </a:ext>
                </a:extLst>
              </p14:cNvPr>
              <p14:cNvContentPartPr/>
              <p14:nvPr/>
            </p14:nvContentPartPr>
            <p14:xfrm>
              <a:off x="11588312" y="48503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3C9B7EE-B38B-3668-59BA-FFDDA8B863C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25672" y="42203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1: latest position per animal with ARG_MAX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6583680" cy="4480560"/>
          </a:xfrm>
          <a:prstGeom prst="roundRect">
            <a:avLst>
              <a:gd name="adj" fmla="val 2449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54480"/>
            <a:ext cx="6126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a.animal_id, a.common_name,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ARG_MAX(g.latitude,  g.ts) AS latitude,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ARG_MAX(g.longitude, g.ts) AS longitude,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ARG_MAX(g.heart_rate_bpm, g.ts) AS hr,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ARG_MAX(g.activity_state, g.ts) AS state,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MAX(g.ts) AS last_ping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animals 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gps_telemetry g USING (animal_id)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protected_zones z USING (zone_id)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ALL;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98080" y="1371600"/>
            <a:ext cx="4114800" cy="448056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0" y="1554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194560"/>
            <a:ext cx="3611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collar map and biometric table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Feeding, migrating, resting states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 chart: heart rate and speed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path of last 30 pings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subquery, no self-join</a:t>
            </a:r>
            <a:endParaRPr lang="en-US" sz="15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35CB1E6-7780-21AA-64A5-7AEE4FDF52CF}"/>
                  </a:ext>
                </a:extLst>
              </p14:cNvPr>
              <p14:cNvContentPartPr/>
              <p14:nvPr/>
            </p14:nvContentPartPr>
            <p14:xfrm>
              <a:off x="11625752" y="363710"/>
              <a:ext cx="360" cy="1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35CB1E6-7780-21AA-64A5-7AEE4FDF52C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63112" y="301070"/>
                <a:ext cx="126000" cy="127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2: fire drill, sensor spike to animal list in one query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Trigger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button injects anomaly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127248" y="1920240"/>
            <a:ext cx="237744" cy="365760"/>
          </a:xfrm>
          <a:prstGeom prst="rightArrow">
            <a:avLst/>
          </a:prstGeom>
          <a:solidFill>
            <a:srgbClr val="5E6F66"/>
          </a:solidFill>
          <a:ln w="12700">
            <a:solidFill>
              <a:srgbClr val="5E6F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83280" y="14173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8328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spike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fire_alert = TRUE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961888" y="1920240"/>
            <a:ext cx="237744" cy="365760"/>
          </a:xfrm>
          <a:prstGeom prst="rightArrow">
            <a:avLst/>
          </a:prstGeom>
          <a:solidFill>
            <a:srgbClr val="5E6F66"/>
          </a:solidFill>
          <a:ln w="12700">
            <a:solidFill>
              <a:srgbClr val="5E6F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4173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ARG_MAX per zone finds alert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796528" y="1920240"/>
            <a:ext cx="237744" cy="365760"/>
          </a:xfrm>
          <a:prstGeom prst="rightArrow">
            <a:avLst/>
          </a:prstGeom>
          <a:solidFill>
            <a:srgbClr val="5E6F66"/>
          </a:solidFill>
          <a:ln w="12700">
            <a:solidFill>
              <a:srgbClr val="5E6F6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052560" y="14173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17382D"/>
          </a:solidFill>
          <a:ln w="12700">
            <a:solidFill>
              <a:srgbClr val="17382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18972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animals + latest GPS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drill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48640" y="35204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22960" y="3520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27-34 °C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46.5-52 °C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4160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22960" y="4160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4297680" y="4160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55-82 %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7498080" y="4160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12-18 %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48640" y="48006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22960" y="4800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297680" y="4800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40-88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498080" y="4800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310-420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4406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22960" y="5440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54406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60-100 bpm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7498080" y="54406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125-155 bpm</a:t>
            </a:r>
            <a:endParaRPr lang="en-US" sz="17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115FF70-CB1B-5290-19FB-9C0ECA7EA5E8}"/>
                  </a:ext>
                </a:extLst>
              </p14:cNvPr>
              <p14:cNvContentPartPr/>
              <p14:nvPr/>
            </p14:nvContentPartPr>
            <p14:xfrm>
              <a:off x="11728352" y="37307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115FF70-CB1B-5290-19FB-9C0ECA7EA5E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6571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9D239B2C-23B3-1055-C22B-C757951DB1A9}"/>
                  </a:ext>
                </a:extLst>
              </p14:cNvPr>
              <p14:cNvContentPartPr/>
              <p14:nvPr/>
            </p14:nvContentPartPr>
            <p14:xfrm>
              <a:off x="11737712" y="373070"/>
              <a:ext cx="360" cy="3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9D239B2C-23B3-1055-C22B-C757951DB1A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67507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3: transactional rescue logging (ACID)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669280" cy="3291840"/>
          </a:xfrm>
          <a:prstGeom prst="roundRect">
            <a:avLst>
              <a:gd name="adj" fmla="val 3333"/>
            </a:avLst>
          </a:prstGeom>
          <a:solidFill>
            <a:srgbClr val="0A1A14"/>
          </a:solidFill>
          <a:ln w="12700">
            <a:solidFill>
              <a:srgbClr val="0A1A1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54480"/>
            <a:ext cx="5212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Log the event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health_rescue_logs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 (?, ?, ?, ?, ?, ?, ?, ?);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Keep the animal record consistent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animals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health_status = ?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animal_id = ?;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9377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types: rescue, disease outbreak, breeding, health check, feeding observation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choices: Healthy, In Rehabilitation, Under Observation, Critical Care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appears at once in Tab 1 and the log table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583680" y="1371600"/>
            <a:ext cx="5029200" cy="484632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health events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858000" y="21945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0" y="21945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Rescue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2194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Paw laceration treated, Ranthambore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858000" y="320040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0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Breeding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3200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Courtship observed, Kaziranga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858000" y="42062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0" y="4206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41248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Foot-and-mouth alert, Corbett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858000" y="521208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17382D"/>
          </a:solidFill>
          <a:ln w="12700">
            <a:solidFill>
              <a:srgbClr val="1738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0" y="52120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12480" y="5212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Collar battery and blood sample</a:t>
            </a:r>
            <a:endParaRPr lang="en-US" sz="1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579D48E-B0BE-A7AC-6B93-104350877D16}"/>
                  </a:ext>
                </a:extLst>
              </p14:cNvPr>
              <p14:cNvContentPartPr/>
              <p14:nvPr/>
            </p14:nvContentPartPr>
            <p14:xfrm>
              <a:off x="11597672" y="37307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579D48E-B0BE-A7AC-6B93-104350877D1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503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4: funding and biodiversity analytics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14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371600"/>
          <a:ext cx="54864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6217920" y="1371600"/>
          <a:ext cx="53949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2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55778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SQL console at the bottom of Tab 4: evaluators run any custom DuckDB query on the spot.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5945C19-BF02-BE1E-6B5F-2BB62212A541}"/>
                  </a:ext>
                </a:extLst>
              </p14:cNvPr>
              <p14:cNvContentPartPr/>
              <p14:nvPr/>
            </p14:nvContentPartPr>
            <p14:xfrm>
              <a:off x="11681912" y="37307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5945C19-BF02-BE1E-6B5F-2BB62212A54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61891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DuckDB features demonstrated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69164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ARG_MAX()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value per entity without self-joins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41732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169164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BY ALL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multi-table aggregations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046720" y="141732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21040" y="169164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0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Columnar + vectorized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scans over telemetry columns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22960" y="416052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0E2A21"/>
          </a:solidFill>
          <a:ln w="12700">
            <a:solidFill>
              <a:srgbClr val="0E2A2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4160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074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correlation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486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anomaly joined to animal GPS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97680" y="388620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72000" y="416052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4160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5074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ACID transactions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0" y="5486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insert + update across tables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8046720" y="388620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321040" y="416052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21040" y="4160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5074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pandas output</a:t>
            </a:r>
            <a:endParaRPr lang="en-US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8321040" y="5486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.df() feeds Plotly and Streamlit directly</a:t>
            </a:r>
            <a:endParaRPr lang="en-US" sz="1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E24747E-6A52-3CB6-508B-129C08A89302}"/>
                  </a:ext>
                </a:extLst>
              </p14:cNvPr>
              <p14:cNvContentPartPr/>
              <p14:nvPr/>
            </p14:nvContentPartPr>
            <p14:xfrm>
              <a:off x="11644472" y="37307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E24747E-6A52-3CB6-508B-129C08A8930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81472" y="31007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and future scope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21792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3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Delivered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tables seeded and linked to a working app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telemetry streaming and fire emergency drill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rescue logging with cross-view consistency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and biodiversity analytics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console for ad-hoc queries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D84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19456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real collar and sensor feeds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extension for geofencing and corridors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and app alerts for rangers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and migration forecasting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archival for long-term history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6358E7-5B9B-6B44-6CB2-31E81A14162E}"/>
                  </a:ext>
                </a:extLst>
              </p14:cNvPr>
              <p14:cNvContentPartPr/>
              <p14:nvPr/>
            </p14:nvContentPartPr>
            <p14:xfrm>
              <a:off x="11681912" y="3543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6358E7-5B9B-6B44-6CB2-31E81A14162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18912" y="291710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plan: all three members present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E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74520" y="1737360"/>
            <a:ext cx="914400" cy="91440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74520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Ishan Mani Singh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25BDS1119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319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DuckDB justification, architecture, schema walkthrough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97680" y="146304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D8452F"/>
          </a:solidFill>
          <a:ln w="12700">
            <a:solidFill>
              <a:srgbClr val="D8452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23560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Daraninaganathan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25BDS1088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617720" y="39319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1 live GPS stream, Tab 2 IoT charts, fire drill in Kaziranga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372600" y="1737360"/>
            <a:ext cx="914400" cy="91440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372600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E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Varshith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25BDS1109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366760" y="39319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3 rescue CRUD, Tab 4 projects, live SQL console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2FD73F-AAE5-1EB3-042A-72A5BA61DB05}"/>
              </a:ext>
            </a:extLst>
          </p:cNvPr>
          <p:cNvSpPr txBox="1"/>
          <p:nvPr/>
        </p:nvSpPr>
        <p:spPr>
          <a:xfrm>
            <a:off x="298580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highlight>
                  <a:srgbClr val="00FF00"/>
                </a:highlight>
                <a:latin typeface="Bahnschrift SemiBold Condensed" panose="020B0502040204020203" pitchFamily="34" charset="0"/>
              </a:rPr>
              <a:t>SOME IMAGE DEMO EXAMPLES OF OUR </a:t>
            </a:r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PRODUCT &amp; PROJECT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35AE04-DD47-DFEB-F6B3-0F1224541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91" y="838649"/>
            <a:ext cx="8653011" cy="5658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34E71F-CB11-8B57-2E6F-6F7EDE9B8F11}"/>
              </a:ext>
            </a:extLst>
          </p:cNvPr>
          <p:cNvSpPr txBox="1"/>
          <p:nvPr/>
        </p:nvSpPr>
        <p:spPr>
          <a:xfrm>
            <a:off x="9433249" y="838649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TERMINAL OUTPUT </a:t>
            </a:r>
          </a:p>
        </p:txBody>
      </p:sp>
    </p:spTree>
    <p:extLst>
      <p:ext uri="{BB962C8B-B14F-4D97-AF65-F5344CB8AC3E}">
        <p14:creationId xmlns:p14="http://schemas.microsoft.com/office/powerpoint/2010/main" val="388275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0DC4C-6FDF-0073-62D7-961F2BEA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1BC18A-A4A0-9BB9-82DD-189CCE11E7B6}"/>
              </a:ext>
            </a:extLst>
          </p:cNvPr>
          <p:cNvSpPr txBox="1"/>
          <p:nvPr/>
        </p:nvSpPr>
        <p:spPr>
          <a:xfrm>
            <a:off x="298580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highlight>
                  <a:srgbClr val="00FF00"/>
                </a:highlight>
                <a:latin typeface="Bahnschrift SemiBold Condensed" panose="020B0502040204020203" pitchFamily="34" charset="0"/>
              </a:rPr>
              <a:t>SOME IMAGE DEMO EXAMPLES OF OUR </a:t>
            </a:r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PRODUCT &amp; PROJECT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51E42F-0DD3-647B-3519-2C1074611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91" y="838649"/>
            <a:ext cx="8653011" cy="5658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44293D-41D0-FBB0-042B-FCC1F41F5A87}"/>
              </a:ext>
            </a:extLst>
          </p:cNvPr>
          <p:cNvSpPr txBox="1"/>
          <p:nvPr/>
        </p:nvSpPr>
        <p:spPr>
          <a:xfrm>
            <a:off x="9433249" y="838649"/>
            <a:ext cx="2220686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FRONTEND VIEW</a:t>
            </a:r>
          </a:p>
          <a:p>
            <a:endParaRPr lang="en-IN" dirty="0"/>
          </a:p>
          <a:p>
            <a:r>
              <a:rPr lang="en-IN" sz="2000" dirty="0">
                <a:latin typeface="Bahnschrift Condensed" panose="020B0502040204020203" pitchFamily="34" charset="0"/>
              </a:rPr>
              <a:t>This page shows the main data tracking </a:t>
            </a:r>
            <a:r>
              <a:rPr lang="en-IN" sz="2000" dirty="0" err="1">
                <a:latin typeface="Bahnschrift Condensed" panose="020B0502040204020203" pitchFamily="34" charset="0"/>
              </a:rPr>
              <a:t>upto</a:t>
            </a:r>
            <a:r>
              <a:rPr lang="en-IN" sz="2000" dirty="0">
                <a:latin typeface="Bahnschrift Condensed" panose="020B0502040204020203" pitchFamily="34" charset="0"/>
              </a:rPr>
              <a:t> 4 natural parks and wildlife sanctuaries.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This draws real data from sensors such as GPS trackers and RFID tags on animal collars 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And landscape data based on rain , humidity , temperature and heartbeat sensors.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2C7329-0D89-29EB-662D-93323138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957"/>
          <a:stretch>
            <a:fillRect/>
          </a:stretch>
        </p:blipFill>
        <p:spPr>
          <a:xfrm>
            <a:off x="369691" y="785568"/>
            <a:ext cx="8718325" cy="5885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70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76CE3-DD34-61F4-791C-A26EA2D45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498A7D-2049-9F89-A325-79FD9BC5991F}"/>
              </a:ext>
            </a:extLst>
          </p:cNvPr>
          <p:cNvSpPr txBox="1"/>
          <p:nvPr/>
        </p:nvSpPr>
        <p:spPr>
          <a:xfrm>
            <a:off x="298580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highlight>
                  <a:srgbClr val="00FF00"/>
                </a:highlight>
                <a:latin typeface="Bahnschrift SemiBold Condensed" panose="020B0502040204020203" pitchFamily="34" charset="0"/>
              </a:rPr>
              <a:t>SOME IMAGE DEMO EXAMPLES OF OUR </a:t>
            </a:r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PRODUCT &amp; PROJECT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ED1D9A-D2AF-2551-21E0-AFBAB955E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91" y="838649"/>
            <a:ext cx="8653011" cy="5658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29AA1C-0C16-26DC-27B7-C0E48C46C85A}"/>
              </a:ext>
            </a:extLst>
          </p:cNvPr>
          <p:cNvSpPr txBox="1"/>
          <p:nvPr/>
        </p:nvSpPr>
        <p:spPr>
          <a:xfrm>
            <a:off x="9433249" y="838649"/>
            <a:ext cx="2220686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FRONTEND VIEW</a:t>
            </a:r>
          </a:p>
          <a:p>
            <a:endParaRPr lang="en-IN" dirty="0"/>
          </a:p>
          <a:p>
            <a:r>
              <a:rPr lang="en-IN" sz="2000" dirty="0">
                <a:latin typeface="Bahnschrift Condensed" panose="020B0502040204020203" pitchFamily="34" charset="0"/>
              </a:rPr>
              <a:t>This page shows the main data tracking </a:t>
            </a:r>
            <a:r>
              <a:rPr lang="en-IN" sz="2000" dirty="0" err="1">
                <a:latin typeface="Bahnschrift Condensed" panose="020B0502040204020203" pitchFamily="34" charset="0"/>
              </a:rPr>
              <a:t>upto</a:t>
            </a:r>
            <a:r>
              <a:rPr lang="en-IN" sz="2000" dirty="0">
                <a:latin typeface="Bahnschrift Condensed" panose="020B0502040204020203" pitchFamily="34" charset="0"/>
              </a:rPr>
              <a:t> 4 natural parks and wildlife sanctuaries.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This draws real data from sensors such as GPS trackers and RFID tags on animal collars 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And landscape data based on rain , humidity , temperature and heartbeat sensors.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9E71ED-B216-4FFB-A785-FEB4F05FDB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957"/>
          <a:stretch>
            <a:fillRect/>
          </a:stretch>
        </p:blipFill>
        <p:spPr>
          <a:xfrm>
            <a:off x="369691" y="785568"/>
            <a:ext cx="8718325" cy="58858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3666D2-6ECC-6317-77A8-E1E5294D5E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298580" y="617785"/>
            <a:ext cx="8854751" cy="6221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160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08538-AD25-D313-D81D-12A3F347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25A2BE-8213-4C94-6154-746A2FD8B938}"/>
              </a:ext>
            </a:extLst>
          </p:cNvPr>
          <p:cNvSpPr txBox="1"/>
          <p:nvPr/>
        </p:nvSpPr>
        <p:spPr>
          <a:xfrm>
            <a:off x="298580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highlight>
                  <a:srgbClr val="00FF00"/>
                </a:highlight>
                <a:latin typeface="Bahnschrift SemiBold Condensed" panose="020B0502040204020203" pitchFamily="34" charset="0"/>
              </a:rPr>
              <a:t>SOME IMAGE DEMO EXAMPLES OF OUR </a:t>
            </a:r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PRODUCT &amp; PROJECT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FCC74E-7B2E-CD5A-8275-1AD7726FE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91" y="838649"/>
            <a:ext cx="8653011" cy="5658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145FBC-6B64-12B5-C14C-07F3A1C8D8F9}"/>
              </a:ext>
            </a:extLst>
          </p:cNvPr>
          <p:cNvSpPr txBox="1"/>
          <p:nvPr/>
        </p:nvSpPr>
        <p:spPr>
          <a:xfrm>
            <a:off x="9433249" y="838649"/>
            <a:ext cx="2220686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FRONTEND VIEW</a:t>
            </a:r>
          </a:p>
          <a:p>
            <a:endParaRPr lang="en-IN" dirty="0"/>
          </a:p>
          <a:p>
            <a:r>
              <a:rPr lang="en-IN" sz="2000" dirty="0">
                <a:latin typeface="Bahnschrift Condensed" panose="020B0502040204020203" pitchFamily="34" charset="0"/>
              </a:rPr>
              <a:t>This page shows the main data tracking </a:t>
            </a:r>
            <a:r>
              <a:rPr lang="en-IN" sz="2000" dirty="0" err="1">
                <a:latin typeface="Bahnschrift Condensed" panose="020B0502040204020203" pitchFamily="34" charset="0"/>
              </a:rPr>
              <a:t>upto</a:t>
            </a:r>
            <a:r>
              <a:rPr lang="en-IN" sz="2000" dirty="0">
                <a:latin typeface="Bahnschrift Condensed" panose="020B0502040204020203" pitchFamily="34" charset="0"/>
              </a:rPr>
              <a:t> 4 natural parks and wildlife sanctuaries.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This draws real data from sensors such as GPS trackers and RFID tags on animal collars </a:t>
            </a:r>
          </a:p>
          <a:p>
            <a:endParaRPr lang="en-IN" sz="2000" dirty="0">
              <a:latin typeface="Bahnschrift Condensed" panose="020B0502040204020203" pitchFamily="34" charset="0"/>
            </a:endParaRPr>
          </a:p>
          <a:p>
            <a:r>
              <a:rPr lang="en-IN" sz="2000" dirty="0">
                <a:latin typeface="Bahnschrift Condensed" panose="020B0502040204020203" pitchFamily="34" charset="0"/>
              </a:rPr>
              <a:t>And landscape data based on rain , humidity , temperature and heartbeat sensors.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D4CA59-68FB-EC79-27DF-0FED0BAD7A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957"/>
          <a:stretch>
            <a:fillRect/>
          </a:stretch>
        </p:blipFill>
        <p:spPr>
          <a:xfrm>
            <a:off x="369691" y="785568"/>
            <a:ext cx="8718325" cy="58858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78385E-EFEB-95EE-AD54-7F98EFC5E4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298580" y="617785"/>
            <a:ext cx="8854751" cy="62213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9AC700-814A-6188-B27E-5FA0C96B20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756" t="26672" r="3661"/>
          <a:stretch>
            <a:fillRect/>
          </a:stretch>
        </p:blipFill>
        <p:spPr>
          <a:xfrm>
            <a:off x="258147" y="581957"/>
            <a:ext cx="5272143" cy="62213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25314F4-B231-20F2-3C54-B603B78E231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894" t="40952" r="2564"/>
          <a:stretch>
            <a:fillRect/>
          </a:stretch>
        </p:blipFill>
        <p:spPr>
          <a:xfrm>
            <a:off x="5530290" y="581956"/>
            <a:ext cx="6571364" cy="6221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7734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6F05D-B9A7-89B8-5511-CB26215BA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05E112-837E-937F-4811-E1B446CFD58D}"/>
              </a:ext>
            </a:extLst>
          </p:cNvPr>
          <p:cNvSpPr txBox="1"/>
          <p:nvPr/>
        </p:nvSpPr>
        <p:spPr>
          <a:xfrm>
            <a:off x="298580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LIVE SQL AND REALTIME DATABASE QUERY ENTRY FOR DUCKDB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036D530-470A-DECD-5172-53458B3A72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721" t="50182" b="25636"/>
          <a:stretch>
            <a:fillRect/>
          </a:stretch>
        </p:blipFill>
        <p:spPr>
          <a:xfrm>
            <a:off x="401216" y="655255"/>
            <a:ext cx="11392678" cy="6016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764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94416-9302-95FD-8E06-442B2F4B8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8EDBF59-162F-35F4-9709-F183DEA8D5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893" t="74275" r="3238"/>
          <a:stretch>
            <a:fillRect/>
          </a:stretch>
        </p:blipFill>
        <p:spPr>
          <a:xfrm>
            <a:off x="391884" y="699795"/>
            <a:ext cx="11112761" cy="59715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E05F0A-1FCA-A81D-ADC0-37BF05524571}"/>
              </a:ext>
            </a:extLst>
          </p:cNvPr>
          <p:cNvSpPr txBox="1"/>
          <p:nvPr/>
        </p:nvSpPr>
        <p:spPr>
          <a:xfrm>
            <a:off x="278363" y="186612"/>
            <a:ext cx="11635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spc="600" dirty="0">
                <a:solidFill>
                  <a:srgbClr val="FFFF00"/>
                </a:solidFill>
                <a:highlight>
                  <a:srgbClr val="00FF00"/>
                </a:highlight>
                <a:latin typeface="Bahnschrift SemiBold Condensed" panose="020B0502040204020203" pitchFamily="34" charset="0"/>
              </a:rPr>
              <a:t>LIVE SQL AND REALTIME DATABASE QUERY ENTRY FOR DUCKDB</a:t>
            </a:r>
          </a:p>
        </p:txBody>
      </p:sp>
    </p:spTree>
    <p:extLst>
      <p:ext uri="{BB962C8B-B14F-4D97-AF65-F5344CB8AC3E}">
        <p14:creationId xmlns:p14="http://schemas.microsoft.com/office/powerpoint/2010/main" val="9755159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2A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8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WildGuard · DuckDB          18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7955280" y="-1355437"/>
            <a:ext cx="5486400" cy="5486400"/>
          </a:xfrm>
          <a:prstGeom prst="ellipse">
            <a:avLst/>
          </a:prstGeom>
          <a:solidFill>
            <a:srgbClr val="17382D"/>
          </a:solidFill>
          <a:ln w="12700">
            <a:solidFill>
              <a:srgbClr val="17382D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5" name="Text 2"/>
          <p:cNvSpPr txBox="1"/>
          <p:nvPr/>
        </p:nvSpPr>
        <p:spPr>
          <a:xfrm>
            <a:off x="806165" y="462798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spc="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7200" spc="600" dirty="0"/>
          </a:p>
        </p:txBody>
      </p:sp>
      <p:sp>
        <p:nvSpPr>
          <p:cNvPr id="6" name="Text 3"/>
          <p:cNvSpPr txBox="1"/>
          <p:nvPr/>
        </p:nvSpPr>
        <p:spPr>
          <a:xfrm>
            <a:off x="806165" y="1562251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spc="600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and live demo</a:t>
            </a:r>
            <a:endParaRPr lang="en-US" sz="2800" spc="600" dirty="0"/>
          </a:p>
        </p:txBody>
      </p:sp>
      <p:sp>
        <p:nvSpPr>
          <p:cNvPr id="7" name="Text 4"/>
          <p:cNvSpPr txBox="1"/>
          <p:nvPr/>
        </p:nvSpPr>
        <p:spPr>
          <a:xfrm>
            <a:off x="806165" y="2283827"/>
            <a:ext cx="10972800" cy="2484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CF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Ishan Mani Singh 25BDS1119  ·  </a:t>
            </a:r>
          </a:p>
          <a:p>
            <a:pPr marL="0" indent="0">
              <a:buNone/>
            </a:pPr>
            <a:r>
              <a:rPr lang="en-US" sz="4400" dirty="0" err="1">
                <a:solidFill>
                  <a:srgbClr val="CF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Daraninaganathan</a:t>
            </a:r>
            <a:r>
              <a:rPr lang="en-US" sz="4400" dirty="0">
                <a:solidFill>
                  <a:srgbClr val="CF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25BDS1088  ·  </a:t>
            </a:r>
          </a:p>
          <a:p>
            <a:pPr marL="0" indent="0">
              <a:buNone/>
            </a:pPr>
            <a:r>
              <a:rPr lang="en-US" sz="4400" dirty="0">
                <a:solidFill>
                  <a:srgbClr val="CF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Varshith 25BDS1109 .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F84149-55EE-E947-C2A7-CAB5CDA674F6}"/>
              </a:ext>
            </a:extLst>
          </p:cNvPr>
          <p:cNvSpPr txBox="1"/>
          <p:nvPr/>
        </p:nvSpPr>
        <p:spPr>
          <a:xfrm>
            <a:off x="4158653" y="4649879"/>
            <a:ext cx="711925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solidFill>
                  <a:schemeClr val="bg1"/>
                </a:solidFill>
                <a:highlight>
                  <a:srgbClr val="000000"/>
                </a:highlight>
              </a:rPr>
              <a:t>ALL THE CODES ARE ON GITHUB : </a:t>
            </a:r>
            <a:r>
              <a:rPr lang="en-IN" sz="2800" dirty="0">
                <a:solidFill>
                  <a:schemeClr val="bg1"/>
                </a:solidFill>
                <a:highlight>
                  <a:srgbClr val="000000"/>
                </a:highlight>
                <a:hlinkClick r:id="rId3"/>
              </a:rPr>
              <a:t>https://github.com/Irresistible-Ishan/DBMS-DuckBD-wildlife-monitoring-project-BACSE202</a:t>
            </a:r>
            <a:r>
              <a:rPr lang="en-IN" sz="2800" dirty="0">
                <a:solidFill>
                  <a:schemeClr val="bg1"/>
                </a:solidFill>
                <a:highlight>
                  <a:srgbClr val="000000"/>
                </a:highlight>
              </a:rPr>
              <a:t> </a:t>
            </a:r>
          </a:p>
        </p:txBody>
      </p:sp>
      <p:pic>
        <p:nvPicPr>
          <p:cNvPr id="8" name="Picture 7" descr="Logo - Brand Toolkit">
            <a:extLst>
              <a:ext uri="{FF2B5EF4-FFF2-40B4-BE49-F238E27FC236}">
                <a16:creationId xmlns:a16="http://schemas.microsoft.com/office/drawing/2014/main" id="{A56FFE5F-7159-8E24-4C15-4922976CD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165" y="4708466"/>
            <a:ext cx="3415004" cy="1267820"/>
          </a:xfrm>
          <a:prstGeom prst="rect">
            <a:avLst/>
          </a:prstGeom>
        </p:spPr>
      </p:pic>
      <p:pic>
        <p:nvPicPr>
          <p:cNvPr id="9" name="Picture 8" descr="DuckDB - Wikipedia">
            <a:extLst>
              <a:ext uri="{FF2B5EF4-FFF2-40B4-BE49-F238E27FC236}">
                <a16:creationId xmlns:a16="http://schemas.microsoft.com/office/drawing/2014/main" id="{8F4165DE-4D28-14BA-F041-2954A819CB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2315" y="462798"/>
            <a:ext cx="3096650" cy="2366158"/>
          </a:xfrm>
          <a:prstGeom prst="rect">
            <a:avLst/>
          </a:prstGeom>
          <a:effectLst>
            <a:glow rad="190500">
              <a:schemeClr val="bg1">
                <a:alpha val="90000"/>
              </a:schemeClr>
            </a:glo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1983</Words>
  <Application>Microsoft Office PowerPoint</Application>
  <PresentationFormat>Widescreen</PresentationFormat>
  <Paragraphs>380</Paragraphs>
  <Slides>24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Bahnschrift Condensed</vt:lpstr>
      <vt:lpstr>Bahnschrift SemiBold Condensed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WildGuard - DuckDB</dc:title>
  <dc:subject>PptxGenJS Presentation</dc:subject>
  <dc:creator>Ishan Mani Singh, Daraninaganathan, Varshith</dc:creator>
  <cp:lastModifiedBy>Ishan Mani Singh</cp:lastModifiedBy>
  <cp:revision>5</cp:revision>
  <dcterms:created xsi:type="dcterms:W3CDTF">2026-10-18T12:20:48Z</dcterms:created>
  <dcterms:modified xsi:type="dcterms:W3CDTF">2026-10-19T11:02:15Z</dcterms:modified>
</cp:coreProperties>
</file>